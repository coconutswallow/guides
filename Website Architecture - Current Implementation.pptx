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19088"/>
            <a:ext cx="11338560" cy="0"/>
          </a:xfrm>
          <a:prstGeom prst="line">
            <a:avLst/>
          </a:prstGeom>
          <a:noFill/>
          <a:ln w="12700">
            <a:solidFill>
              <a:srgbClr val="D9CD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76E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Hawthorne Website Architecture • Current implementation review • 2026-09-14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76E6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76E6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6012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A2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Hawthorne Website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1783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76E64"/>
                </a:solidFill>
              </a:rPr>
              <a:t>Current implementation • editable architecture reference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057400" y="2743200"/>
            <a:ext cx="8092440" cy="1143000"/>
          </a:xfrm>
          <a:prstGeom prst="roundRect">
            <a:avLst>
              <a:gd name="adj" fmla="val 4800"/>
            </a:avLst>
          </a:prstGeom>
          <a:solidFill>
            <a:srgbClr val="F6E8C8"/>
          </a:solidFill>
          <a:ln w="13970">
            <a:solidFill>
              <a:srgbClr val="B783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48840" y="2816352"/>
            <a:ext cx="7909560" cy="9966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2926"/>
                </a:solidFill>
              </a:rPr>
              <a:t>Verdict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D2926"/>
                </a:solidFill>
              </a:rPr>
              <a:t>The original five-page sketch is broadly correct at a high level, but incomplete as an implementation reference.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600200" y="4343400"/>
            <a:ext cx="90525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926"/>
                </a:solidFill>
              </a:rPr>
              <a:t>This deck documents the static-site foundation, browser runtime, Supabase data boundary, authentication flow, external data ingestion, and release caveats.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15391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776E64"/>
                </a:solidFill>
              </a:rPr>
              <a:t>Compared with Website Architecture.pdf • Repository evidence from _config.yml, assets/js, supabase/, backend-tools/, and admin/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76E6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System topology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6E64"/>
                </a:solidFill>
              </a:rPr>
              <a:t>The implementation is a static Jekyll site with several browser-side applications.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1508760" cy="960120"/>
          </a:xfrm>
          <a:prstGeom prst="roundRect">
            <a:avLst>
              <a:gd name="adj" fmla="val 5714"/>
            </a:avLst>
          </a:prstGeom>
          <a:solidFill>
            <a:srgbClr val="DCEAF2"/>
          </a:solidFill>
          <a:ln w="13970">
            <a:solidFill>
              <a:srgbClr val="7FAF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47672"/>
            <a:ext cx="1325880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</a:rPr>
              <a:t>Users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</a:rPr>
              <a:t>Visitors • Players • DMs • Staff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1874520"/>
            <a:ext cx="1600200" cy="960120"/>
          </a:xfrm>
          <a:prstGeom prst="roundRect">
            <a:avLst>
              <a:gd name="adj" fmla="val 5714"/>
            </a:avLst>
          </a:prstGeom>
          <a:solidFill>
            <a:srgbClr val="E1EFE3"/>
          </a:solidFill>
          <a:ln w="13970">
            <a:solidFill>
              <a:srgbClr val="82AE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97480" y="1947672"/>
            <a:ext cx="1417320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</a:rPr>
              <a:t>GitHub Pages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</a:rPr>
              <a:t>Test + Production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874520"/>
            <a:ext cx="1600200" cy="960120"/>
          </a:xfrm>
          <a:prstGeom prst="roundRect">
            <a:avLst>
              <a:gd name="adj" fmla="val 5714"/>
            </a:avLst>
          </a:prstGeom>
          <a:solidFill>
            <a:srgbClr val="FFFDF8"/>
          </a:solidFill>
          <a:ln w="13970">
            <a:solidFill>
              <a:srgbClr val="B9AA9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947672"/>
            <a:ext cx="1417320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</a:rPr>
              <a:t>Jekyll build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</a:rPr>
              <a:t>HTML • CSS • JS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</a:rPr>
              <a:t>search.json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40880" y="1874520"/>
            <a:ext cx="1600200" cy="960120"/>
          </a:xfrm>
          <a:prstGeom prst="roundRect">
            <a:avLst>
              <a:gd name="adj" fmla="val 5714"/>
            </a:avLst>
          </a:prstGeom>
          <a:solidFill>
            <a:srgbClr val="E7E0F3"/>
          </a:solidFill>
          <a:ln w="13970">
            <a:solidFill>
              <a:srgbClr val="9B8A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1947672"/>
            <a:ext cx="1417320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</a:rPr>
              <a:t>Browser runtime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</a:rPr>
              <a:t>Guides + tools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</a:rPr>
              <a:t>ES modules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235440" y="187452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F6E8C8"/>
          </a:solidFill>
          <a:ln w="13970">
            <a:solidFill>
              <a:srgbClr val="B783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0" y="1947672"/>
            <a:ext cx="1691640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</a:rPr>
              <a:t>Supabase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</a:rPr>
              <a:t>Auth • REST/RPC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</a:rPr>
              <a:t>Postgres • RLS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03120" y="2350008"/>
            <a:ext cx="475488" cy="0"/>
          </a:xfrm>
          <a:prstGeom prst="line">
            <a:avLst/>
          </a:prstGeom>
          <a:noFill/>
          <a:ln w="17780">
            <a:solidFill>
              <a:srgbClr val="7A2E2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224528" y="2350008"/>
            <a:ext cx="548640" cy="0"/>
          </a:xfrm>
          <a:prstGeom prst="line">
            <a:avLst/>
          </a:prstGeom>
          <a:noFill/>
          <a:ln w="17780">
            <a:solidFill>
              <a:srgbClr val="7A2E2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19088" y="2350008"/>
            <a:ext cx="594360" cy="0"/>
          </a:xfrm>
          <a:prstGeom prst="line">
            <a:avLst/>
          </a:prstGeom>
          <a:noFill/>
          <a:ln w="17780">
            <a:solidFill>
              <a:srgbClr val="7A2E2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659368" y="2350008"/>
            <a:ext cx="530352" cy="0"/>
          </a:xfrm>
          <a:prstGeom prst="line">
            <a:avLst/>
          </a:prstGeom>
          <a:noFill/>
          <a:ln w="17780">
            <a:solidFill>
              <a:srgbClr val="7A2E2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017520" y="3886200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DCEAF2"/>
          </a:solidFill>
          <a:ln w="13970">
            <a:solidFill>
              <a:srgbClr val="7FAF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3959352"/>
            <a:ext cx="1874520" cy="722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</a:rPr>
              <a:t>Discord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</a:rPr>
              <a:t>OAuth + guild/member API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77840" y="3886200"/>
            <a:ext cx="2788920" cy="868680"/>
          </a:xfrm>
          <a:prstGeom prst="roundRect">
            <a:avLst>
              <a:gd name="adj" fmla="val 6316"/>
            </a:avLst>
          </a:prstGeom>
          <a:solidFill>
            <a:srgbClr val="E1EFE3"/>
          </a:solidFill>
          <a:ln w="13970">
            <a:solidFill>
              <a:srgbClr val="82AE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3959352"/>
            <a:ext cx="2606040" cy="722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</a:rPr>
              <a:t>Google Sheets + Apps Script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</a:rPr>
              <a:t>Allowed Content and related catalog sync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15400" y="388620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F4DADA"/>
          </a:solidFill>
          <a:ln w="13970">
            <a:solidFill>
              <a:srgbClr val="C1848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06840" y="3959352"/>
            <a:ext cx="1645920" cy="722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</a:rPr>
              <a:t>DecapBridge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</a:rPr>
              <a:t>CMS → Git commit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069080" y="3858768"/>
            <a:ext cx="5943600" cy="-932688"/>
          </a:xfrm>
          <a:prstGeom prst="line">
            <a:avLst/>
          </a:prstGeom>
          <a:noFill/>
          <a:ln w="13970">
            <a:solidFill>
              <a:srgbClr val="776E6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995160" y="3858768"/>
            <a:ext cx="3108960" cy="-932688"/>
          </a:xfrm>
          <a:prstGeom prst="line">
            <a:avLst/>
          </a:prstGeom>
          <a:noFill/>
          <a:ln w="13970">
            <a:solidFill>
              <a:srgbClr val="776E6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784080" y="3858768"/>
            <a:ext cx="-6263640" cy="-932688"/>
          </a:xfrm>
          <a:prstGeom prst="line">
            <a:avLst/>
          </a:prstGeom>
          <a:noFill/>
          <a:ln w="13970">
            <a:solidFill>
              <a:srgbClr val="776E64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9372600" y="315468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6E64"/>
                </a:solidFill>
              </a:rPr>
              <a:t>Two database projects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098280" y="340156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926"/>
                </a:solidFill>
              </a:rPr>
              <a:t>CoconutDB / test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058400" y="34015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926"/>
                </a:solidFill>
              </a:rPr>
              <a:t>HawthorneDB / production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48640" y="615391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776E64"/>
                </a:solidFill>
              </a:rPr>
              <a:t>Evidence: _config.yml; assets/js/supabaseClient.js; admin/index.html; backend-tools/AC_Bridge/*.gs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76E6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Content delivery and release 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6E64"/>
                </a:solidFill>
              </a:rPr>
              <a:t>DecapBridge edits Git-backed static content; promotion between environments is an operational process.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234440" cy="713232"/>
          </a:xfrm>
          <a:prstGeom prst="roundRect">
            <a:avLst>
              <a:gd name="adj" fmla="val 7692"/>
            </a:avLst>
          </a:prstGeom>
          <a:solidFill>
            <a:srgbClr val="DCEAF2"/>
          </a:solidFill>
          <a:ln w="13970">
            <a:solidFill>
              <a:srgbClr val="7FAF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01952"/>
            <a:ext cx="105156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926"/>
                </a:solidFill>
              </a:rPr>
              <a:t>Author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423160" y="1828800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F4DADA"/>
          </a:solidFill>
          <a:ln w="13970">
            <a:solidFill>
              <a:srgbClr val="C184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1901952"/>
            <a:ext cx="123444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926"/>
                </a:solidFill>
              </a:rPr>
              <a:t>DecapBridge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D2926"/>
                </a:solidFill>
              </a:rPr>
              <a:t>CMS UI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E1EFE3"/>
          </a:solidFill>
          <a:ln w="13970">
            <a:solidFill>
              <a:srgbClr val="82AE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490472"/>
            <a:ext cx="164592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</a:rPr>
              <a:t>Test repo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</a:rPr>
              <a:t>coconutswallow/Guides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251460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E1EFE3"/>
          </a:solidFill>
          <a:ln w="13970">
            <a:solidFill>
              <a:srgbClr val="82AE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587752"/>
            <a:ext cx="164592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</a:rPr>
              <a:t>Production repo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</a:rPr>
              <a:t>hawthorneguild/Guides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86600" y="182880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FFFDF8"/>
          </a:solidFill>
          <a:ln w="13970">
            <a:solidFill>
              <a:srgbClr val="B9AA9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8040" y="1901952"/>
            <a:ext cx="164592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926"/>
                </a:solidFill>
              </a:rPr>
              <a:t>Jekyll + GitHub Pages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D2926"/>
                </a:solidFill>
              </a:rPr>
              <a:t>static site build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738360" y="1828800"/>
            <a:ext cx="1737360" cy="713232"/>
          </a:xfrm>
          <a:prstGeom prst="roundRect">
            <a:avLst>
              <a:gd name="adj" fmla="val 7692"/>
            </a:avLst>
          </a:prstGeom>
          <a:solidFill>
            <a:srgbClr val="E7E0F3"/>
          </a:solidFill>
          <a:ln w="13970">
            <a:solidFill>
              <a:srgbClr val="9B8A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29800" y="1901952"/>
            <a:ext cx="155448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</a:rPr>
              <a:t>Published test + production sites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965960" y="2185416"/>
            <a:ext cx="411480" cy="0"/>
          </a:xfrm>
          <a:prstGeom prst="line">
            <a:avLst/>
          </a:prstGeom>
          <a:noFill/>
          <a:ln w="17780">
            <a:solidFill>
              <a:srgbClr val="7A2E2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886200" y="2075688"/>
            <a:ext cx="457200" cy="-292608"/>
          </a:xfrm>
          <a:prstGeom prst="line">
            <a:avLst/>
          </a:prstGeom>
          <a:noFill/>
          <a:ln w="17780">
            <a:solidFill>
              <a:srgbClr val="7A2E2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886200" y="2286000"/>
            <a:ext cx="457200" cy="566928"/>
          </a:xfrm>
          <a:prstGeom prst="line">
            <a:avLst/>
          </a:prstGeom>
          <a:noFill/>
          <a:ln w="17780">
            <a:solidFill>
              <a:srgbClr val="7A2E2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63640" y="1783080"/>
            <a:ext cx="777240" cy="292608"/>
          </a:xfrm>
          <a:prstGeom prst="line">
            <a:avLst/>
          </a:prstGeom>
          <a:noFill/>
          <a:ln w="17780">
            <a:solidFill>
              <a:srgbClr val="7A2E2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63640" y="2852928"/>
            <a:ext cx="777240" cy="-566928"/>
          </a:xfrm>
          <a:prstGeom prst="line">
            <a:avLst/>
          </a:prstGeom>
          <a:noFill/>
          <a:ln w="17780">
            <a:solidFill>
              <a:srgbClr val="7A2E2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961120" y="2185416"/>
            <a:ext cx="731520" cy="0"/>
          </a:xfrm>
          <a:prstGeom prst="line">
            <a:avLst/>
          </a:prstGeom>
          <a:noFill/>
          <a:ln w="17780">
            <a:solidFill>
              <a:srgbClr val="7A2E2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834640" y="3977640"/>
            <a:ext cx="6629400" cy="868680"/>
          </a:xfrm>
          <a:prstGeom prst="roundRect">
            <a:avLst>
              <a:gd name="adj" fmla="val 6316"/>
            </a:avLst>
          </a:prstGeom>
          <a:solidFill>
            <a:srgbClr val="F6E8C8"/>
          </a:solidFill>
          <a:ln w="13970">
            <a:solidFill>
              <a:srgbClr val="B783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4050792"/>
            <a:ext cx="6446520" cy="722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926"/>
                </a:solidFill>
              </a:rPr>
              <a:t>Manual release / compare-and-copy process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D2926"/>
                </a:solidFill>
              </a:rPr>
              <a:t>Policy: move code to production on scheduled releases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5257800"/>
            <a:ext cx="99669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D2926"/>
                </a:solidFill>
              </a:rPr>
              <a:t>Qualification: the repository contains no GitHub Actions workflow implementing this promotion process. The process may still be valid operationally, but it is not enforced by the codebase.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15391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776E64"/>
                </a:solidFill>
              </a:rPr>
              <a:t>Evidence: admin/config.yml; admin/config-test.yml; admin/index.html; Gemfile; repository has no .github/workflows directory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76E6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Runtime authentication and authorization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6E64"/>
                </a:solidFill>
              </a:rPr>
              <a:t>The browser participates in both the Discord role lookup and the Supabase data request.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1600200" cy="713232"/>
          </a:xfrm>
          <a:prstGeom prst="roundRect">
            <a:avLst>
              <a:gd name="adj" fmla="val 7692"/>
            </a:avLst>
          </a:prstGeom>
          <a:solidFill>
            <a:srgbClr val="E7E0F3"/>
          </a:solidFill>
          <a:ln w="13970">
            <a:solidFill>
              <a:srgbClr val="B9AA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01952"/>
            <a:ext cx="141732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926"/>
                </a:solidFill>
              </a:rPr>
              <a:t>Browser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88920" y="1828800"/>
            <a:ext cx="1600200" cy="713232"/>
          </a:xfrm>
          <a:prstGeom prst="roundRect">
            <a:avLst>
              <a:gd name="adj" fmla="val 7692"/>
            </a:avLst>
          </a:prstGeom>
          <a:solidFill>
            <a:srgbClr val="F6E8C8"/>
          </a:solidFill>
          <a:ln w="13970">
            <a:solidFill>
              <a:srgbClr val="B9AA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1901952"/>
            <a:ext cx="141732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926"/>
                </a:solidFill>
              </a:rPr>
              <a:t>Supabase Auth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83480" y="1828800"/>
            <a:ext cx="1600200" cy="713232"/>
          </a:xfrm>
          <a:prstGeom prst="roundRect">
            <a:avLst>
              <a:gd name="adj" fmla="val 7692"/>
            </a:avLst>
          </a:prstGeom>
          <a:solidFill>
            <a:srgbClr val="DCEAF2"/>
          </a:solidFill>
          <a:ln w="13970">
            <a:solidFill>
              <a:srgbClr val="B9AA9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1901952"/>
            <a:ext cx="141732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926"/>
                </a:solidFill>
              </a:rPr>
              <a:t>Discord API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78040" y="1828800"/>
            <a:ext cx="1600200" cy="713232"/>
          </a:xfrm>
          <a:prstGeom prst="roundRect">
            <a:avLst>
              <a:gd name="adj" fmla="val 7692"/>
            </a:avLst>
          </a:prstGeom>
          <a:solidFill>
            <a:srgbClr val="E1EFE3"/>
          </a:solidFill>
          <a:ln w="13970">
            <a:solidFill>
              <a:srgbClr val="B9AA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69480" y="1901952"/>
            <a:ext cx="141732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926"/>
                </a:solidFill>
              </a:rPr>
              <a:t>RPC + role map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372600" y="1828800"/>
            <a:ext cx="1600200" cy="713232"/>
          </a:xfrm>
          <a:prstGeom prst="roundRect">
            <a:avLst>
              <a:gd name="adj" fmla="val 7692"/>
            </a:avLst>
          </a:prstGeom>
          <a:solidFill>
            <a:srgbClr val="F4DADA"/>
          </a:solidFill>
          <a:ln w="13970">
            <a:solidFill>
              <a:srgbClr val="C184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64040" y="1901952"/>
            <a:ext cx="141732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926"/>
                </a:solidFill>
              </a:rPr>
              <a:t>Tables + RLS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40280" y="2185416"/>
            <a:ext cx="502920" cy="0"/>
          </a:xfrm>
          <a:prstGeom prst="line">
            <a:avLst/>
          </a:prstGeom>
          <a:noFill/>
          <a:ln w="17780">
            <a:solidFill>
              <a:srgbClr val="7A2E2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34840" y="2185416"/>
            <a:ext cx="502920" cy="0"/>
          </a:xfrm>
          <a:prstGeom prst="line">
            <a:avLst/>
          </a:prstGeom>
          <a:noFill/>
          <a:ln w="17780">
            <a:solidFill>
              <a:srgbClr val="7A2E2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2185416"/>
            <a:ext cx="502920" cy="0"/>
          </a:xfrm>
          <a:prstGeom prst="line">
            <a:avLst/>
          </a:prstGeom>
          <a:noFill/>
          <a:ln w="17780">
            <a:solidFill>
              <a:srgbClr val="7A2E2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823960" y="2185416"/>
            <a:ext cx="502920" cy="0"/>
          </a:xfrm>
          <a:prstGeom prst="line">
            <a:avLst/>
          </a:prstGeom>
          <a:noFill/>
          <a:ln w="17780">
            <a:solidFill>
              <a:srgbClr val="7A2E2E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60120" y="28803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76E64"/>
                </a:solidFill>
              </a:rPr>
              <a:t>1. signInWithOAuth(discord)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971800" y="28803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76E64"/>
                </a:solidFill>
              </a:rPr>
              <a:t>2. session + provider token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17720" y="28803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76E64"/>
                </a:solidFill>
              </a:rPr>
              <a:t>3. guild membership + roles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95160" y="28803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76E64"/>
                </a:solidFill>
              </a:rPr>
              <a:t>4. store mapped roles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144000" y="28803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76E64"/>
                </a:solidFill>
              </a:rPr>
              <a:t>5. data access decision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965960" y="3794760"/>
            <a:ext cx="8183880" cy="1097280"/>
          </a:xfrm>
          <a:prstGeom prst="roundRect">
            <a:avLst>
              <a:gd name="adj" fmla="val 5000"/>
            </a:avLst>
          </a:prstGeom>
          <a:solidFill>
            <a:srgbClr val="F6E8C8"/>
          </a:solidFill>
          <a:ln w="13970">
            <a:solidFill>
              <a:srgbClr val="B783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57400" y="3867912"/>
            <a:ext cx="8001000" cy="950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2926"/>
                </a:solidFill>
              </a:rPr>
              <a:t>Important distinction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D2926"/>
                </a:solidFill>
              </a:rPr>
              <a:t>Supabase handles OAuth/session management. The browser separately calls Discord for guild/member data, then calls the Supabase RPC. RLS is the database authorization boundary.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" y="615391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776E64"/>
                </a:solidFill>
              </a:rPr>
              <a:t>Evidence: assets/js/auth-manager.js; assets/js/auth-check.js; supabase/migrations/*rls*; supabase/link-discord-accounts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76E6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Browser application inventory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6E64"/>
                </a:solidFill>
              </a:rPr>
              <a:t>The original sketch lists only five Supabase-backed areas; the repository implements more.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7A2E2E"/>
          </a:solidFill>
          <a:ln w="13970">
            <a:solidFill>
              <a:srgbClr val="7A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90472"/>
            <a:ext cx="498348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Core public and workflow applications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55080" y="1417320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7A2E2E"/>
          </a:solidFill>
          <a:ln w="13970">
            <a:solidFill>
              <a:srgbClr val="7A2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490472"/>
            <a:ext cx="498348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Additional implemented areas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470916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600" dirty="0">
                <a:solidFill>
                  <a:srgbClr val="2D2926"/>
                </a:solidFill>
              </a:rPr>
              <a:t>Static guides + layouts</a:t>
            </a:r>
            <a:endParaRPr lang="en-US" sz="1600" dirty="0"/>
          </a:p>
          <a:p>
            <a:pPr marL="165100" indent="-165100">
              <a:buSzPct val="100000"/>
              <a:buChar char="•"/>
            </a:pPr>
            <a:r>
              <a:rPr lang="en-US" sz="1600" dirty="0">
                <a:solidFill>
                  <a:srgbClr val="2D2926"/>
                </a:solidFill>
              </a:rPr>
              <a:t>Universal search</a:t>
            </a:r>
            <a:endParaRPr lang="en-US" sz="1600" dirty="0"/>
          </a:p>
          <a:p>
            <a:pPr marL="165100" indent="-165100">
              <a:buSzPct val="100000"/>
              <a:buChar char="•"/>
            </a:pPr>
            <a:r>
              <a:rPr lang="en-US" sz="1600" dirty="0">
                <a:solidFill>
                  <a:srgbClr val="2D2926"/>
                </a:solidFill>
              </a:rPr>
              <a:t>Allowed Content</a:t>
            </a:r>
            <a:endParaRPr lang="en-US" sz="1600" dirty="0"/>
          </a:p>
          <a:p>
            <a:pPr marL="165100" indent="-165100">
              <a:buSzPct val="100000"/>
              <a:buChar char="•"/>
            </a:pPr>
            <a:r>
              <a:rPr lang="en-US" sz="1600" dirty="0">
                <a:solidFill>
                  <a:srgbClr val="2D2926"/>
                </a:solidFill>
              </a:rPr>
              <a:t>Monster Compendium</a:t>
            </a:r>
            <a:endParaRPr lang="en-US" sz="1600" dirty="0"/>
          </a:p>
          <a:p>
            <a:pPr marL="165100" indent="-165100">
              <a:buSzPct val="100000"/>
              <a:buChar char="•"/>
            </a:pPr>
            <a:r>
              <a:rPr lang="en-US" sz="1600" dirty="0">
                <a:solidFill>
                  <a:srgbClr val="2D2926"/>
                </a:solidFill>
              </a:rPr>
              <a:t>DM Tool</a:t>
            </a:r>
            <a:endParaRPr lang="en-US" sz="1600" dirty="0"/>
          </a:p>
          <a:p>
            <a:pPr marL="165100" indent="-165100">
              <a:buSzPct val="100000"/>
              <a:buChar char="•"/>
            </a:pPr>
            <a:r>
              <a:rPr lang="en-US" sz="1600" dirty="0">
                <a:solidFill>
                  <a:srgbClr val="2D2926"/>
                </a:solidFill>
              </a:rPr>
              <a:t>Character Rework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057400"/>
            <a:ext cx="470916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600" dirty="0">
                <a:solidFill>
                  <a:srgbClr val="2D2926"/>
                </a:solidFill>
              </a:rPr>
              <a:t>Equipment Purchase Tool</a:t>
            </a:r>
            <a:endParaRPr lang="en-US" sz="1600" dirty="0"/>
          </a:p>
          <a:p>
            <a:pPr marL="165100" indent="-165100">
              <a:buSzPct val="100000"/>
              <a:buChar char="•"/>
            </a:pPr>
            <a:r>
              <a:rPr lang="en-US" sz="1600" dirty="0">
                <a:solidFill>
                  <a:srgbClr val="2D2926"/>
                </a:solidFill>
              </a:rPr>
              <a:t>Interactive Maps</a:t>
            </a:r>
            <a:endParaRPr lang="en-US" sz="1600" dirty="0"/>
          </a:p>
          <a:p>
            <a:pPr marL="165100" indent="-165100">
              <a:buSzPct val="100000"/>
              <a:buChar char="•"/>
            </a:pPr>
            <a:r>
              <a:rPr lang="en-US" sz="1600" dirty="0">
                <a:solidFill>
                  <a:srgbClr val="2D2926"/>
                </a:solidFill>
              </a:rPr>
              <a:t>Player session entry</a:t>
            </a:r>
            <a:endParaRPr lang="en-US" sz="1600" dirty="0"/>
          </a:p>
          <a:p>
            <a:pPr marL="165100" indent="-165100">
              <a:buSzPct val="100000"/>
              <a:buChar char="•"/>
            </a:pPr>
            <a:r>
              <a:rPr lang="en-US" sz="1600" dirty="0">
                <a:solidFill>
                  <a:srgbClr val="2D2926"/>
                </a:solidFill>
              </a:rPr>
              <a:t>Homepage announcements</a:t>
            </a:r>
            <a:endParaRPr lang="en-US" sz="1600" dirty="0"/>
          </a:p>
          <a:p>
            <a:pPr marL="165100" indent="-165100">
              <a:buSzPct val="100000"/>
              <a:buChar char="•"/>
            </a:pPr>
            <a:r>
              <a:rPr lang="en-US" sz="1600" dirty="0">
                <a:solidFill>
                  <a:srgbClr val="2D2926"/>
                </a:solidFill>
              </a:rPr>
              <a:t>Error logging</a:t>
            </a:r>
            <a:endParaRPr lang="en-US" sz="1600" dirty="0"/>
          </a:p>
          <a:p>
            <a:pPr marL="165100" indent="-165100">
              <a:buSzPct val="100000"/>
              <a:buChar char="•"/>
            </a:pPr>
            <a:r>
              <a:rPr lang="en-US" sz="1600" dirty="0">
                <a:solidFill>
                  <a:srgbClr val="2D2926"/>
                </a:solidFill>
              </a:rPr>
              <a:t>Staff/admin portals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5394960"/>
            <a:ext cx="10332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D2926"/>
                </a:solidFill>
              </a:rPr>
              <a:t>Relevant tables include: ac_* catalogs, monsters, monster_features, session_logs, session_player_submissions, rework, lookups, events, location_maps, locations, server_msg, system, errors, and discord_users.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615391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776E64"/>
                </a:solidFill>
              </a:rPr>
              <a:t>Evidence: assets/js/ and page entry points under allowed-content/, field-guide/, dm-tool/, maps/, player-tools/, staff/, and index.html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76E6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Data ingestion and database promotion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6E64"/>
                </a:solidFill>
              </a:rPr>
              <a:t>There are three distinct data-change paths, not one.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600200" cy="822960"/>
          </a:xfrm>
          <a:prstGeom prst="roundRect">
            <a:avLst>
              <a:gd name="adj" fmla="val 6667"/>
            </a:avLst>
          </a:prstGeom>
          <a:solidFill>
            <a:srgbClr val="E1EFE3"/>
          </a:solidFill>
          <a:ln w="13970">
            <a:solidFill>
              <a:srgbClr val="82AE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64792"/>
            <a:ext cx="141732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926"/>
                </a:solidFill>
              </a:rPr>
              <a:t>Google Sheet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D2926"/>
                </a:solidFill>
              </a:rPr>
              <a:t>source catalog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26080" y="1554480"/>
            <a:ext cx="2011680" cy="1097280"/>
          </a:xfrm>
          <a:prstGeom prst="roundRect">
            <a:avLst>
              <a:gd name="adj" fmla="val 5000"/>
            </a:avLst>
          </a:prstGeom>
          <a:solidFill>
            <a:srgbClr val="DCEAF2"/>
          </a:solidFill>
          <a:ln w="13970">
            <a:solidFill>
              <a:srgbClr val="7FAF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1627632"/>
            <a:ext cx="1828800" cy="950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2926"/>
                </a:solidFill>
              </a:rPr>
              <a:t>Apps Script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D2926"/>
                </a:solidFill>
              </a:rPr>
              <a:t>AC_Bridge normalizers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D2926"/>
                </a:solidFill>
              </a:rPr>
              <a:t>DEV / PROD sync buttons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3749040"/>
            <a:ext cx="1600200" cy="822960"/>
          </a:xfrm>
          <a:prstGeom prst="roundRect">
            <a:avLst>
              <a:gd name="adj" fmla="val 6667"/>
            </a:avLst>
          </a:prstGeom>
          <a:solidFill>
            <a:srgbClr val="E7E0F3"/>
          </a:solidFill>
          <a:ln w="13970">
            <a:solidFill>
              <a:srgbClr val="9B8A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822192"/>
            <a:ext cx="141732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926"/>
                </a:solidFill>
              </a:rPr>
              <a:t>Browser apps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D2926"/>
                </a:solidFill>
              </a:rPr>
              <a:t>user and workflow data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26080" y="374904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F6E8C8"/>
          </a:solidFill>
          <a:ln w="13970">
            <a:solidFill>
              <a:srgbClr val="B783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3822192"/>
            <a:ext cx="182880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2926"/>
                </a:solidFill>
              </a:rPr>
              <a:t>Manual SQL editor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D2926"/>
                </a:solidFill>
              </a:rPr>
              <a:t>plus migration history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92240" y="1691640"/>
            <a:ext cx="1691640" cy="82296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 w="13970">
            <a:solidFill>
              <a:srgbClr val="B9AA9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764792"/>
            <a:ext cx="150876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926"/>
                </a:solidFill>
              </a:rPr>
              <a:t>CoconutDB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D2926"/>
                </a:solidFill>
              </a:rPr>
              <a:t>Test project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235440" y="1691640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 w="13970">
            <a:solidFill>
              <a:srgbClr val="B9AA9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0" y="1764792"/>
            <a:ext cx="164592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926"/>
                </a:solidFill>
              </a:rPr>
              <a:t>HawthorneDB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D2926"/>
                </a:solidFill>
              </a:rPr>
              <a:t>Production project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377440" y="2103120"/>
            <a:ext cx="502920" cy="0"/>
          </a:xfrm>
          <a:prstGeom prst="line">
            <a:avLst/>
          </a:prstGeom>
          <a:noFill/>
          <a:ln w="17780">
            <a:solidFill>
              <a:srgbClr val="7A2E2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983480" y="2103120"/>
            <a:ext cx="1463040" cy="0"/>
          </a:xfrm>
          <a:prstGeom prst="line">
            <a:avLst/>
          </a:prstGeom>
          <a:noFill/>
          <a:ln w="17780">
            <a:solidFill>
              <a:srgbClr val="7A2E2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983480" y="2103120"/>
            <a:ext cx="4206240" cy="0"/>
          </a:xfrm>
          <a:prstGeom prst="line">
            <a:avLst/>
          </a:prstGeom>
          <a:noFill/>
          <a:ln w="17780">
            <a:solidFill>
              <a:srgbClr val="7A2E2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377440" y="4160520"/>
            <a:ext cx="4069080" cy="-1645920"/>
          </a:xfrm>
          <a:prstGeom prst="line">
            <a:avLst/>
          </a:prstGeom>
          <a:noFill/>
          <a:ln w="17780">
            <a:solidFill>
              <a:srgbClr val="7A2E2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377440" y="4160520"/>
            <a:ext cx="6812280" cy="-1645920"/>
          </a:xfrm>
          <a:prstGeom prst="line">
            <a:avLst/>
          </a:prstGeom>
          <a:noFill/>
          <a:ln w="17780">
            <a:solidFill>
              <a:srgbClr val="7A2E2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983480" y="4160520"/>
            <a:ext cx="1463040" cy="-1463040"/>
          </a:xfrm>
          <a:prstGeom prst="line">
            <a:avLst/>
          </a:prstGeom>
          <a:noFill/>
          <a:ln w="17780">
            <a:solidFill>
              <a:srgbClr val="7A2E2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983480" y="4160520"/>
            <a:ext cx="4206240" cy="-1463040"/>
          </a:xfrm>
          <a:prstGeom prst="line">
            <a:avLst/>
          </a:prstGeom>
          <a:noFill/>
          <a:ln w="17780">
            <a:solidFill>
              <a:srgbClr val="7A2E2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492240" y="3703320"/>
            <a:ext cx="4572000" cy="1234440"/>
          </a:xfrm>
          <a:prstGeom prst="roundRect">
            <a:avLst>
              <a:gd name="adj" fmla="val 4444"/>
            </a:avLst>
          </a:prstGeom>
          <a:solidFill>
            <a:srgbClr val="F4DADA"/>
          </a:solidFill>
          <a:ln w="13970">
            <a:solidFill>
              <a:srgbClr val="C1848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3776472"/>
            <a:ext cx="438912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D2926"/>
                </a:solidFill>
              </a:rPr>
              <a:t>Caveat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D2926"/>
                </a:solidFill>
              </a:rPr>
              <a:t>The migrations directory is incremental history, not a guaranteed full rebuild of both databases. Several existing tables are not created there, and the Discord-link SQL is a function body rather than a complete migration.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615391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776E64"/>
                </a:solidFill>
              </a:rPr>
              <a:t>Evidence: backend-tools/AC_Bridge/*.gs; supabase/migrations/; supabase/link-discord-accounts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76E6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Corrections required in the original sketch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6E64"/>
                </a:solidFill>
              </a:rPr>
              <a:t>These are the changes needed before treating it as an authoritative architecture document.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F6E8C8"/>
          </a:solidFill>
          <a:ln w="13970">
            <a:solidFill>
              <a:srgbClr val="B783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07592"/>
            <a:ext cx="2560320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D2926"/>
                </a:solidFill>
              </a:rPr>
              <a:t>Jekyll CMS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520440" y="1234440"/>
            <a:ext cx="8092440" cy="502920"/>
          </a:xfrm>
          <a:prstGeom prst="roundRect">
            <a:avLst>
              <a:gd name="adj" fmla="val 10909"/>
            </a:avLst>
          </a:prstGeom>
          <a:solidFill>
            <a:srgbClr val="FFFDF8"/>
          </a:solidFill>
          <a:ln w="13970">
            <a:solidFill>
              <a:srgbClr val="B9AA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1880" y="1307592"/>
            <a:ext cx="7909560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D2926"/>
                </a:solidFill>
              </a:rPr>
              <a:t>Jekyll is the static-site generator; DecapBridge is the CMS layer.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187452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F6E8C8"/>
          </a:solidFill>
          <a:ln w="13970">
            <a:solidFill>
              <a:srgbClr val="B783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47672"/>
            <a:ext cx="2560320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D2926"/>
                </a:solidFill>
              </a:rPr>
              <a:t>Built-in auto-indexing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20440" y="1874520"/>
            <a:ext cx="8092440" cy="502920"/>
          </a:xfrm>
          <a:prstGeom prst="roundRect">
            <a:avLst>
              <a:gd name="adj" fmla="val 10909"/>
            </a:avLst>
          </a:prstGeom>
          <a:solidFill>
            <a:srgbClr val="FFFDF8"/>
          </a:solidFill>
          <a:ln w="13970">
            <a:solidFill>
              <a:srgbClr val="B9AA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947672"/>
            <a:ext cx="7909560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D2926"/>
                </a:solidFill>
              </a:rPr>
              <a:t>Search is custom: generated search.json + browser-side Lunr.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251460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F4DADA"/>
          </a:solidFill>
          <a:ln w="13970">
            <a:solidFill>
              <a:srgbClr val="C184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587752"/>
            <a:ext cx="2560320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D2926"/>
                </a:solidFill>
              </a:rPr>
              <a:t>Only five dynamic modules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520440" y="2514600"/>
            <a:ext cx="8092440" cy="502920"/>
          </a:xfrm>
          <a:prstGeom prst="roundRect">
            <a:avLst>
              <a:gd name="adj" fmla="val 10909"/>
            </a:avLst>
          </a:prstGeom>
          <a:solidFill>
            <a:srgbClr val="FFFDF8"/>
          </a:solidFill>
          <a:ln w="13970">
            <a:solidFill>
              <a:srgbClr val="B9AA9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2587752"/>
            <a:ext cx="7909560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D2926"/>
                </a:solidFill>
              </a:rPr>
              <a:t>Add maps, announcements, purchases, player submissions, errors, and admin portals.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315468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F4DADA"/>
          </a:solidFill>
          <a:ln w="13970">
            <a:solidFill>
              <a:srgbClr val="C184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227832"/>
            <a:ext cx="2560320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D2926"/>
                </a:solidFill>
              </a:rPr>
              <a:t>Supabase “talks to Discord”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520440" y="3154680"/>
            <a:ext cx="8092440" cy="502920"/>
          </a:xfrm>
          <a:prstGeom prst="roundRect">
            <a:avLst>
              <a:gd name="adj" fmla="val 10909"/>
            </a:avLst>
          </a:prstGeom>
          <a:solidFill>
            <a:srgbClr val="FFFDF8"/>
          </a:solidFill>
          <a:ln w="13970">
            <a:solidFill>
              <a:srgbClr val="B9AA9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3227832"/>
            <a:ext cx="7909560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D2926"/>
                </a:solidFill>
              </a:rPr>
              <a:t>Show browser → Discord API separately from Supabase Auth and RPC.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379476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F4DADA"/>
          </a:solidFill>
          <a:ln w="13970">
            <a:solidFill>
              <a:srgbClr val="C1848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867912"/>
            <a:ext cx="2560320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D2926"/>
                </a:solidFill>
              </a:rPr>
              <a:t>Migrations replicate production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520440" y="3794760"/>
            <a:ext cx="8092440" cy="502920"/>
          </a:xfrm>
          <a:prstGeom prst="roundRect">
            <a:avLst>
              <a:gd name="adj" fmla="val 10909"/>
            </a:avLst>
          </a:prstGeom>
          <a:solidFill>
            <a:srgbClr val="FFFDF8"/>
          </a:solidFill>
          <a:ln w="13970">
            <a:solidFill>
              <a:srgbClr val="B9AA9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3867912"/>
            <a:ext cx="7909560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D2926"/>
                </a:solidFill>
              </a:rPr>
              <a:t>Qualify this as incremental/manual migration history.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" y="443484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F6E8C8"/>
          </a:solidFill>
          <a:ln w="13970">
            <a:solidFill>
              <a:srgbClr val="B783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507992"/>
            <a:ext cx="2560320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D2926"/>
                </a:solidFill>
              </a:rPr>
              <a:t>Two environments are automatic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520440" y="4434840"/>
            <a:ext cx="8092440" cy="502920"/>
          </a:xfrm>
          <a:prstGeom prst="roundRect">
            <a:avLst>
              <a:gd name="adj" fmla="val 10909"/>
            </a:avLst>
          </a:prstGeom>
          <a:solidFill>
            <a:srgbClr val="FFFDF8"/>
          </a:solidFill>
          <a:ln w="13970">
            <a:solidFill>
              <a:srgbClr val="B9AA9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4507992"/>
            <a:ext cx="7909560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D2926"/>
                </a:solidFill>
              </a:rPr>
              <a:t>Document exact-hostname routing and the non-production fallback to test.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94360" y="507492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F4DADA"/>
          </a:solidFill>
          <a:ln w="13970">
            <a:solidFill>
              <a:srgbClr val="C1848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148072"/>
            <a:ext cx="2560320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D2926"/>
                </a:solidFill>
              </a:rPr>
              <a:t>Staff can edit all static content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520440" y="5074920"/>
            <a:ext cx="8092440" cy="502920"/>
          </a:xfrm>
          <a:prstGeom prst="roundRect">
            <a:avLst>
              <a:gd name="adj" fmla="val 10909"/>
            </a:avLst>
          </a:prstGeom>
          <a:solidFill>
            <a:srgbClr val="FFFDF8"/>
          </a:solidFill>
          <a:ln w="13970">
            <a:solidFill>
              <a:srgbClr val="B9AA9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11880" y="5148072"/>
            <a:ext cx="7909560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D2926"/>
                </a:solidFill>
              </a:rPr>
              <a:t>Production CMS config is incomplete and uses `_dms_guide` instead of `_dmsguide`.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15391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776E64"/>
                </a:solidFill>
              </a:rPr>
              <a:t>Evidence: _config.yml; assets/js/search.js; assets/js/supabaseClient.js; admin/config.yml; admin/config-test.yml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76E6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Recommended architecture reference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6E64"/>
                </a:solidFill>
              </a:rPr>
              <a:t>Use this deck and the companion Mermaid document as the maintained source of truth.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E1EFE3"/>
          </a:solidFill>
          <a:ln w="13970">
            <a:solidFill>
              <a:srgbClr val="82AE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27632"/>
            <a:ext cx="2286000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926"/>
                </a:solidFill>
              </a:rPr>
              <a:t>Deployment layer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D2926"/>
                </a:solidFill>
              </a:rPr>
              <a:t>Repos • GitHub Pages • Jekyll • DecapBridge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20440" y="155448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E7E0F3"/>
          </a:solidFill>
          <a:ln w="13970">
            <a:solidFill>
              <a:srgbClr val="9B8A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1880" y="1627632"/>
            <a:ext cx="2286000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926"/>
                </a:solidFill>
              </a:rPr>
              <a:t>Runtime layer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D2926"/>
                </a:solidFill>
              </a:rPr>
              <a:t>Static pages • ES modules • custom search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F6E8C8"/>
          </a:solidFill>
          <a:ln w="13970">
            <a:solidFill>
              <a:srgbClr val="B783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627632"/>
            <a:ext cx="2286000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926"/>
                </a:solidFill>
              </a:rPr>
              <a:t>Data/security layer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D2926"/>
                </a:solidFill>
              </a:rPr>
              <a:t>Supabase projects • Auth • RPC • RLS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098280" y="155448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DCEAF2"/>
          </a:solidFill>
          <a:ln w="13970">
            <a:solidFill>
              <a:srgbClr val="7FAF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89720" y="1627632"/>
            <a:ext cx="2286000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D2926"/>
                </a:solidFill>
              </a:rPr>
              <a:t>Integration layer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D2926"/>
                </a:solidFill>
              </a:rPr>
              <a:t>Discord • Google Sheets • Apps Script • manual SQL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246120" y="2011680"/>
            <a:ext cx="228600" cy="0"/>
          </a:xfrm>
          <a:prstGeom prst="line">
            <a:avLst/>
          </a:prstGeom>
          <a:noFill/>
          <a:ln w="17780">
            <a:solidFill>
              <a:srgbClr val="7A2E2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035040" y="2011680"/>
            <a:ext cx="228600" cy="0"/>
          </a:xfrm>
          <a:prstGeom prst="line">
            <a:avLst/>
          </a:prstGeom>
          <a:noFill/>
          <a:ln w="17780">
            <a:solidFill>
              <a:srgbClr val="7A2E2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823960" y="2011680"/>
            <a:ext cx="228600" cy="0"/>
          </a:xfrm>
          <a:prstGeom prst="line">
            <a:avLst/>
          </a:prstGeom>
          <a:noFill/>
          <a:ln w="17780">
            <a:solidFill>
              <a:srgbClr val="7A2E2E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22960" y="3063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2E2E"/>
                </a:solidFill>
              </a:rPr>
              <a:t>Keep these facts current whenever implementation changes: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828800" y="3611880"/>
            <a:ext cx="8503920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400" dirty="0">
                <a:solidFill>
                  <a:srgbClr val="2D2926"/>
                </a:solidFill>
              </a:rPr>
              <a:t>Environment routing and database project mapping</a:t>
            </a:r>
            <a:endParaRPr lang="en-US" sz="1400" dirty="0"/>
          </a:p>
          <a:p>
            <a:pPr marL="165100" indent="-165100">
              <a:buSzPct val="100000"/>
              <a:buChar char="•"/>
            </a:pPr>
            <a:r>
              <a:rPr lang="en-US" sz="1400" dirty="0">
                <a:solidFill>
                  <a:srgbClr val="2D2926"/>
                </a:solidFill>
              </a:rPr>
              <a:t>Authentication, role synchronization, and RLS policies</a:t>
            </a:r>
            <a:endParaRPr lang="en-US" sz="1400" dirty="0"/>
          </a:p>
          <a:p>
            <a:pPr marL="165100" indent="-165100">
              <a:buSzPct val="100000"/>
              <a:buChar char="•"/>
            </a:pPr>
            <a:r>
              <a:rPr lang="en-US" sz="1400" dirty="0">
                <a:solidFill>
                  <a:srgbClr val="2D2926"/>
                </a:solidFill>
              </a:rPr>
              <a:t>Supabase table domains and migration coverage</a:t>
            </a:r>
            <a:endParaRPr lang="en-US" sz="1400" dirty="0"/>
          </a:p>
          <a:p>
            <a:pPr marL="165100" indent="-165100">
              <a:buSzPct val="100000"/>
              <a:buChar char="•"/>
            </a:pPr>
            <a:r>
              <a:rPr lang="en-US" sz="1400" dirty="0">
                <a:solidFill>
                  <a:srgbClr val="2D2926"/>
                </a:solidFill>
              </a:rPr>
              <a:t>DecapBridge collections and editable content paths</a:t>
            </a:r>
            <a:endParaRPr lang="en-US" sz="1400" dirty="0"/>
          </a:p>
          <a:p>
            <a:pPr marL="165100" indent="-165100">
              <a:buSzPct val="100000"/>
              <a:buChar char="•"/>
            </a:pPr>
            <a:r>
              <a:rPr lang="en-US" sz="1400" dirty="0">
                <a:solidFill>
                  <a:srgbClr val="2D2926"/>
                </a:solidFill>
              </a:rPr>
              <a:t>Google Sheets synchronization targets and release procedure</a:t>
            </a:r>
            <a:endParaRPr lang="en-US" sz="1400" dirty="0"/>
          </a:p>
          <a:p>
            <a:pPr marL="165100" indent="-165100">
              <a:buSzPct val="100000"/>
              <a:buChar char="•"/>
            </a:pPr>
            <a:r>
              <a:rPr lang="en-US" sz="1400" dirty="0">
                <a:solidFill>
                  <a:srgbClr val="2D2926"/>
                </a:solidFill>
              </a:rPr>
              <a:t>Difference between local source, test deployment, and production deployment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15391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776E64"/>
                </a:solidFill>
              </a:rPr>
              <a:t>Companion editable source: Website Architecture - Current Implementation.md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76E6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Hawthorne Guild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Hawthorne Website Architecture — Current Implementation</dc:title>
  <dc:subject>Current implementation architecture</dc:subject>
  <dc:creator>Codex</dc:creator>
  <cp:lastModifiedBy>Codex</cp:lastModifiedBy>
  <cp:revision>1</cp:revision>
  <dcterms:created xsi:type="dcterms:W3CDTF">2026-09-14T14:31:52Z</dcterms:created>
  <dcterms:modified xsi:type="dcterms:W3CDTF">2026-09-14T14:31:52Z</dcterms:modified>
</cp:coreProperties>
</file>