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298D-7F3A-0518-69C5-812AB919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DBA99-C595-8BD2-A787-386F38318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11874-8C19-E03E-8851-C970015F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03AA0-7551-B69F-E820-0EBB207F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6BF74-38AA-230D-AF19-A581C129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187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ED19-074E-46F8-CD3D-F5C4236C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04349-2622-AB6A-3422-6A7122AE2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F9B14-89AD-1810-1DD2-CB5FD708D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B9364-F978-F5E5-6A09-874802AA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E0AE-BEAA-C0EF-2D9F-355534DB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4134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53B1-171F-B065-BA43-9E0BBE9C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A0ECE-97E0-DA20-082E-D7120435F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6C119-4AD5-B832-B36B-60301B7B3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4DF1-C4E5-86A9-E74F-13BFE6A6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A16C-0D7A-7695-002D-34DA4546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208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E02E-2AEE-1180-E1AC-068BAB2D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FC0CF-8307-3C45-0BED-C432E062D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B153F-605A-0AAE-5957-39DD97B98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CCCA1-262B-800E-186E-2CBA456E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7BF0A-6F2E-5459-D062-6C1EEA93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515F7-BB85-6945-6762-907CAD99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149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4FFB-FE37-C507-3118-450E90651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9524D-D11F-3EFD-7963-C16D21F8B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DBD6C-EE70-4EC5-1AB9-8596907C2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D77244-193A-ECAD-AFC8-FEF314853D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F98849-A9B7-DEDF-C03F-4F142F675F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3BBCE-78E5-07BB-5D59-D566AAC9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37059-944C-ECEB-8AAC-7D441A390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0F394-8FBD-C4ED-F006-270135B5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863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F72B-F9EE-7453-1752-A6802803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E43ABB-2D3B-D94E-D221-8F5DB284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D33064-5244-5B78-4CCC-8BB02E5B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300BFE-F867-2234-67F8-5DAB8EFC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14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381A8C-62B4-052D-C36A-5C1D0CA0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89C98-B017-0FC2-046A-CA774358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849A7-7A30-00BF-87E8-2DC79FA2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74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EF92-C14E-561F-5A10-52975234A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588E-A5DE-10C5-D746-2F2BBC1E3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68ED52-33FD-692E-0719-8E8733D63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5B952-A767-6C0C-EBF5-A2626C408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F7A87-1521-7B92-BE13-DC2C42BB9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0ACDB-D6E9-3D64-8F51-656B986E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226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3F3E6-48C8-7346-7570-DFD9F777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0CCDF-D4FF-1A6E-810B-D73B3EC2B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08452-A141-7253-2B0D-A3F728395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F24D9-7627-ECF7-839B-C31B5461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81A2B-FD40-4D0D-C73A-34BDE192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E6143-F7C0-BED1-8F95-0D575019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958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20806-7199-D585-E02A-EA13A27F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EEECD-2A0F-5C4A-E7D3-6BE270F39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A8CC6-7E33-1813-A79A-C30B29C6E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04DF8-FC46-3957-E10A-4AA43E5C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90438-60E6-0EBC-D7A6-4CEAE5CF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6460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379FC7-2269-C8CC-D317-523D29FD2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C8ACB7-7223-3136-EDA9-06645E44D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A9E60-85D7-B5BA-BF6B-B854ACF86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DBE2-600C-C715-CDD4-DF01A028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69B5-5B17-B0B1-F722-5775DC6E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819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B7137B-85A9-FD08-4E97-0B9ACD90B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ACC15-D4F1-C3E9-F282-F65F511A9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0F1F1-F01B-9DBB-0F25-127B52326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0162E-8C5B-453F-9861-DDAF11EE600A}" type="datetimeFigureOut">
              <a:rPr lang="en-CA" smtClean="0"/>
              <a:t>2026-02-25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5BCFA-BD6F-3884-9189-A9838697E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B069E-BB13-B704-8821-B1A47DDFC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BF94A-6E23-4088-959A-D65FD84B51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7600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E74AD01E-A3D6-0DC9-709F-350D250F5ACA}"/>
              </a:ext>
            </a:extLst>
          </p:cNvPr>
          <p:cNvSpPr/>
          <p:nvPr/>
        </p:nvSpPr>
        <p:spPr>
          <a:xfrm>
            <a:off x="1671485" y="3146322"/>
            <a:ext cx="1818968" cy="757084"/>
          </a:xfrm>
          <a:prstGeom prst="flowChartDocumen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>
              <a:solidFill>
                <a:sysClr val="windowText" lastClr="000000"/>
              </a:solidFill>
            </a:endParaRPr>
          </a:p>
          <a:p>
            <a:pPr algn="ctr"/>
            <a:r>
              <a:rPr lang="en-CA" sz="1100" dirty="0">
                <a:solidFill>
                  <a:sysClr val="windowText" lastClr="000000"/>
                </a:solidFill>
              </a:rPr>
              <a:t>Coconutswallow/Guides</a:t>
            </a:r>
          </a:p>
        </p:txBody>
      </p: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7C138A8D-67BE-64F4-BFB9-063F1FF67436}"/>
              </a:ext>
            </a:extLst>
          </p:cNvPr>
          <p:cNvSpPr/>
          <p:nvPr/>
        </p:nvSpPr>
        <p:spPr>
          <a:xfrm>
            <a:off x="1671485" y="4876799"/>
            <a:ext cx="1818968" cy="757084"/>
          </a:xfrm>
          <a:prstGeom prst="flowChartDocumen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100" dirty="0"/>
              <a:t>hawthorneguide/Guides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13B84C-E61E-D2C9-F79C-39BAA3E422E5}"/>
              </a:ext>
            </a:extLst>
          </p:cNvPr>
          <p:cNvSpPr txBox="1"/>
          <p:nvPr/>
        </p:nvSpPr>
        <p:spPr>
          <a:xfrm>
            <a:off x="1671485" y="3146322"/>
            <a:ext cx="973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dirty="0">
                <a:solidFill>
                  <a:sysClr val="windowText" lastClr="000000"/>
                </a:solidFill>
              </a:rPr>
              <a:t>Staging Repo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502100-4683-EF7E-D0BA-8DE827D8BF58}"/>
              </a:ext>
            </a:extLst>
          </p:cNvPr>
          <p:cNvSpPr txBox="1"/>
          <p:nvPr/>
        </p:nvSpPr>
        <p:spPr>
          <a:xfrm>
            <a:off x="1671485" y="4850288"/>
            <a:ext cx="12437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50" dirty="0">
                <a:solidFill>
                  <a:schemeClr val="bg1"/>
                </a:solidFill>
              </a:rPr>
              <a:t>Production Repo</a:t>
            </a:r>
          </a:p>
        </p:txBody>
      </p:sp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B718EABD-7A96-F1EC-FAFC-8750D3A22383}"/>
              </a:ext>
            </a:extLst>
          </p:cNvPr>
          <p:cNvSpPr/>
          <p:nvPr/>
        </p:nvSpPr>
        <p:spPr>
          <a:xfrm>
            <a:off x="1671485" y="1547087"/>
            <a:ext cx="1818968" cy="757084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00" dirty="0"/>
          </a:p>
          <a:p>
            <a:pPr algn="ctr"/>
            <a:r>
              <a:rPr lang="en-CA" sz="1100" dirty="0"/>
              <a:t>Local Jekyll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30BE56-B55E-C36E-6A18-16D42D5709D1}"/>
              </a:ext>
            </a:extLst>
          </p:cNvPr>
          <p:cNvSpPr txBox="1"/>
          <p:nvPr/>
        </p:nvSpPr>
        <p:spPr>
          <a:xfrm>
            <a:off x="0" y="60702"/>
            <a:ext cx="410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Convoluted Dev Environment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7CF675-409F-DEAE-EA74-C2B5DE989812}"/>
              </a:ext>
            </a:extLst>
          </p:cNvPr>
          <p:cNvSpPr txBox="1"/>
          <p:nvPr/>
        </p:nvSpPr>
        <p:spPr>
          <a:xfrm>
            <a:off x="378543" y="2389664"/>
            <a:ext cx="580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Git pull</a:t>
            </a: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3B052D10-839D-1D16-B1F2-93C031712268}"/>
              </a:ext>
            </a:extLst>
          </p:cNvPr>
          <p:cNvCxnSpPr>
            <a:cxnSpLocks/>
            <a:stCxn id="20" idx="3"/>
            <a:endCxn id="14" idx="3"/>
          </p:cNvCxnSpPr>
          <p:nvPr/>
        </p:nvCxnSpPr>
        <p:spPr>
          <a:xfrm>
            <a:off x="3490453" y="1925629"/>
            <a:ext cx="12700" cy="1599235"/>
          </a:xfrm>
          <a:prstGeom prst="curvedConnector3">
            <a:avLst>
              <a:gd name="adj1" fmla="val 44322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CC7633A2-B928-F0B2-7AAB-0FAD67B9D5D9}"/>
              </a:ext>
            </a:extLst>
          </p:cNvPr>
          <p:cNvCxnSpPr>
            <a:stCxn id="14" idx="3"/>
            <a:endCxn id="15" idx="3"/>
          </p:cNvCxnSpPr>
          <p:nvPr/>
        </p:nvCxnSpPr>
        <p:spPr>
          <a:xfrm>
            <a:off x="3490453" y="3524864"/>
            <a:ext cx="12700" cy="1730477"/>
          </a:xfrm>
          <a:prstGeom prst="curvedConnector3">
            <a:avLst>
              <a:gd name="adj1" fmla="val 5825803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9DE7E30-C448-C78D-0AE6-09C35AD16F0F}"/>
              </a:ext>
            </a:extLst>
          </p:cNvPr>
          <p:cNvSpPr txBox="1"/>
          <p:nvPr/>
        </p:nvSpPr>
        <p:spPr>
          <a:xfrm>
            <a:off x="6813755" y="1161163"/>
            <a:ext cx="47362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b="1" dirty="0"/>
              <a:t>Rationale for this setup</a:t>
            </a:r>
            <a:br>
              <a:rPr lang="en-CA" sz="1200" dirty="0"/>
            </a:br>
            <a:r>
              <a:rPr lang="en-CA" sz="1200" dirty="0"/>
              <a:t>The way </a:t>
            </a:r>
            <a:r>
              <a:rPr lang="en-CA" sz="1200" dirty="0" err="1"/>
              <a:t>github</a:t>
            </a:r>
            <a:r>
              <a:rPr lang="en-CA" sz="1200" dirty="0"/>
              <a:t> pages are setup, they are triggered upon commit to the repo.  So as soon as you commit a change, it’s live.  </a:t>
            </a:r>
            <a:br>
              <a:rPr lang="en-CA" sz="1200" dirty="0"/>
            </a:br>
            <a:br>
              <a:rPr lang="en-CA" sz="1200" dirty="0"/>
            </a:br>
            <a:r>
              <a:rPr lang="en-CA" sz="1200" dirty="0"/>
              <a:t>For a single developer/tester, it’s okay because we can test via a local Jekyll install and push it once we’ve fully tested.  But if for multiple developers, or if we want user-testing before pushing, we need a second repo/environment.</a:t>
            </a:r>
          </a:p>
          <a:p>
            <a:br>
              <a:rPr lang="en-CA" sz="1200" dirty="0"/>
            </a:br>
            <a:r>
              <a:rPr lang="en-CA" sz="1200" b="1" dirty="0"/>
              <a:t>Setup:</a:t>
            </a:r>
            <a:br>
              <a:rPr lang="en-CA" sz="1200" b="1" dirty="0"/>
            </a:br>
            <a:r>
              <a:rPr lang="en-CA" sz="1200" dirty="0"/>
              <a:t>1.  Setup </a:t>
            </a:r>
            <a:r>
              <a:rPr lang="en-CA" sz="1200" dirty="0" err="1"/>
              <a:t>Github</a:t>
            </a:r>
            <a:r>
              <a:rPr lang="en-CA" sz="1200" dirty="0"/>
              <a:t> for both production and staging environments</a:t>
            </a:r>
          </a:p>
          <a:p>
            <a:br>
              <a:rPr lang="en-CA" sz="1200" dirty="0"/>
            </a:br>
            <a:r>
              <a:rPr lang="en-CA" sz="1200" dirty="0"/>
              <a:t>2.  Develop in the coconut project.  Use local Jekyll setup for unit testing.</a:t>
            </a:r>
          </a:p>
          <a:p>
            <a:br>
              <a:rPr lang="en-CA" sz="1200" dirty="0"/>
            </a:br>
            <a:r>
              <a:rPr lang="en-CA" sz="1200" dirty="0"/>
              <a:t>3.  When ready for QA or user beta testing, commit to coconut repo</a:t>
            </a:r>
          </a:p>
          <a:p>
            <a:endParaRPr lang="en-CA" sz="1200" dirty="0"/>
          </a:p>
          <a:p>
            <a:r>
              <a:rPr lang="en-CA" sz="1200" dirty="0"/>
              <a:t>4.  When we are ready for a production release (coordinate with admin for announcements, etc., I will do a file-sync between the repos, then commit the changes.</a:t>
            </a:r>
          </a:p>
          <a:p>
            <a:endParaRPr lang="en-CA" sz="1200" dirty="0"/>
          </a:p>
        </p:txBody>
      </p: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6A0C7115-8D90-0DB9-3728-DF4E87E88869}"/>
              </a:ext>
            </a:extLst>
          </p:cNvPr>
          <p:cNvCxnSpPr>
            <a:stCxn id="14" idx="1"/>
            <a:endCxn id="20" idx="1"/>
          </p:cNvCxnSpPr>
          <p:nvPr/>
        </p:nvCxnSpPr>
        <p:spPr>
          <a:xfrm rot="10800000">
            <a:off x="1671485" y="1925630"/>
            <a:ext cx="12700" cy="1599235"/>
          </a:xfrm>
          <a:prstGeom prst="curvedConnector3">
            <a:avLst>
              <a:gd name="adj1" fmla="val 62903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AFA3F77-C93F-0DFD-BD32-0B837634DE0B}"/>
              </a:ext>
            </a:extLst>
          </p:cNvPr>
          <p:cNvSpPr txBox="1"/>
          <p:nvPr/>
        </p:nvSpPr>
        <p:spPr>
          <a:xfrm>
            <a:off x="4255320" y="2489267"/>
            <a:ext cx="15141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Promote for QA </a:t>
            </a:r>
          </a:p>
          <a:p>
            <a:r>
              <a:rPr lang="en-CA" sz="1100" dirty="0"/>
              <a:t>(git-comment)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D84800-C604-C686-4F81-2E0B24C6CA2A}"/>
              </a:ext>
            </a:extLst>
          </p:cNvPr>
          <p:cNvSpPr txBox="1"/>
          <p:nvPr/>
        </p:nvSpPr>
        <p:spPr>
          <a:xfrm>
            <a:off x="4255320" y="4080847"/>
            <a:ext cx="1951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b="1" dirty="0"/>
              <a:t>Promote for Production</a:t>
            </a:r>
          </a:p>
          <a:p>
            <a:r>
              <a:rPr lang="en-CA" sz="1100" dirty="0"/>
              <a:t>(diff compare to verify differences, copy from staging to prod, commit)</a:t>
            </a:r>
          </a:p>
        </p:txBody>
      </p: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795E8B9A-3C7A-1064-6174-22A1097F5176}"/>
              </a:ext>
            </a:extLst>
          </p:cNvPr>
          <p:cNvCxnSpPr/>
          <p:nvPr/>
        </p:nvCxnSpPr>
        <p:spPr>
          <a:xfrm rot="10800000">
            <a:off x="1646085" y="3729849"/>
            <a:ext cx="12700" cy="1599235"/>
          </a:xfrm>
          <a:prstGeom prst="curvedConnector3">
            <a:avLst>
              <a:gd name="adj1" fmla="val 629032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170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204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Howard Cheung</dc:creator>
  <cp:lastModifiedBy>Howard Cheung</cp:lastModifiedBy>
  <cp:revision>1</cp:revision>
  <dcterms:created xsi:type="dcterms:W3CDTF">2026-02-25T14:27:46Z</dcterms:created>
  <dcterms:modified xsi:type="dcterms:W3CDTF">2026-02-25T14:51:46Z</dcterms:modified>
</cp:coreProperties>
</file>